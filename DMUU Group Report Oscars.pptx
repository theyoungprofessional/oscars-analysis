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5" r:id="rId8"/>
    <p:sldId id="262" r:id="rId9"/>
    <p:sldId id="263" r:id="rId10"/>
    <p:sldId id="264"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52" autoAdjust="0"/>
    <p:restoredTop sz="94640"/>
  </p:normalViewPr>
  <p:slideViewPr>
    <p:cSldViewPr snapToGrid="0">
      <p:cViewPr>
        <p:scale>
          <a:sx n="90" d="100"/>
          <a:sy n="90" d="100"/>
        </p:scale>
        <p:origin x="40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5/7/2026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5/7/2026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5/7/2026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5/7/2026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5/7/2026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5/7/2026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5/7/2026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openintro.org/data/index.php?data=oscar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DDAA8-39B9-C5E2-0639-14D960DAE907}"/>
              </a:ext>
            </a:extLst>
          </p:cNvPr>
          <p:cNvSpPr>
            <a:spLocks noGrp="1"/>
          </p:cNvSpPr>
          <p:nvPr>
            <p:ph type="ctrTitle"/>
          </p:nvPr>
        </p:nvSpPr>
        <p:spPr/>
        <p:txBody>
          <a:bodyPr/>
          <a:lstStyle/>
          <a:p>
            <a:r>
              <a:rPr lang="en-US" dirty="0"/>
              <a:t>Oscar Winners</a:t>
            </a:r>
          </a:p>
        </p:txBody>
      </p:sp>
      <p:sp>
        <p:nvSpPr>
          <p:cNvPr id="3" name="Subtitle 2">
            <a:extLst>
              <a:ext uri="{FF2B5EF4-FFF2-40B4-BE49-F238E27FC236}">
                <a16:creationId xmlns:a16="http://schemas.microsoft.com/office/drawing/2014/main" id="{E175ECC9-62DA-4ABD-F3EB-67B146442436}"/>
              </a:ext>
            </a:extLst>
          </p:cNvPr>
          <p:cNvSpPr>
            <a:spLocks noGrp="1"/>
          </p:cNvSpPr>
          <p:nvPr>
            <p:ph type="subTitle" idx="1"/>
          </p:nvPr>
        </p:nvSpPr>
        <p:spPr/>
        <p:txBody>
          <a:bodyPr/>
          <a:lstStyle/>
          <a:p>
            <a:r>
              <a:rPr lang="en-US" dirty="0"/>
              <a:t>Group 4</a:t>
            </a:r>
          </a:p>
        </p:txBody>
      </p:sp>
      <p:sp>
        <p:nvSpPr>
          <p:cNvPr id="4" name="TextBox 3">
            <a:extLst>
              <a:ext uri="{FF2B5EF4-FFF2-40B4-BE49-F238E27FC236}">
                <a16:creationId xmlns:a16="http://schemas.microsoft.com/office/drawing/2014/main" id="{AA664223-1723-3418-FC17-DF1C0163D5F9}"/>
              </a:ext>
            </a:extLst>
          </p:cNvPr>
          <p:cNvSpPr txBox="1"/>
          <p:nvPr/>
        </p:nvSpPr>
        <p:spPr>
          <a:xfrm>
            <a:off x="1312333" y="5269469"/>
            <a:ext cx="7535334" cy="369332"/>
          </a:xfrm>
          <a:prstGeom prst="rect">
            <a:avLst/>
          </a:prstGeom>
          <a:noFill/>
        </p:spPr>
        <p:txBody>
          <a:bodyPr wrap="square" rtlCol="0">
            <a:spAutoFit/>
          </a:bodyPr>
          <a:lstStyle/>
          <a:p>
            <a:r>
              <a:rPr lang="en-US" dirty="0"/>
              <a:t>By: Michael Overman, Sose </a:t>
            </a:r>
            <a:r>
              <a:rPr lang="en-US" dirty="0" err="1"/>
              <a:t>Ehize</a:t>
            </a:r>
            <a:r>
              <a:rPr lang="en-US" dirty="0"/>
              <a:t>, Coral Tracy, &amp; Nicolas Brunetto</a:t>
            </a:r>
          </a:p>
        </p:txBody>
      </p:sp>
    </p:spTree>
    <p:extLst>
      <p:ext uri="{BB962C8B-B14F-4D97-AF65-F5344CB8AC3E}">
        <p14:creationId xmlns:p14="http://schemas.microsoft.com/office/powerpoint/2010/main" val="891719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21CE5-966B-DDC5-E837-D16F445ADA63}"/>
              </a:ext>
            </a:extLst>
          </p:cNvPr>
          <p:cNvSpPr>
            <a:spLocks noGrp="1"/>
          </p:cNvSpPr>
          <p:nvPr>
            <p:ph type="title"/>
          </p:nvPr>
        </p:nvSpPr>
        <p:spPr/>
        <p:txBody>
          <a:bodyPr/>
          <a:lstStyle/>
          <a:p>
            <a:r>
              <a:rPr lang="en-US" dirty="0"/>
              <a:t>Introduction</a:t>
            </a:r>
          </a:p>
        </p:txBody>
      </p:sp>
      <p:sp>
        <p:nvSpPr>
          <p:cNvPr id="6" name="Rectangle 3">
            <a:extLst>
              <a:ext uri="{FF2B5EF4-FFF2-40B4-BE49-F238E27FC236}">
                <a16:creationId xmlns:a16="http://schemas.microsoft.com/office/drawing/2014/main" id="{D9085BBB-AF46-4E72-D2E5-1D32F448282E}"/>
              </a:ext>
            </a:extLst>
          </p:cNvPr>
          <p:cNvSpPr>
            <a:spLocks noGrp="1" noChangeArrowheads="1"/>
          </p:cNvSpPr>
          <p:nvPr>
            <p:ph idx="1"/>
          </p:nvPr>
        </p:nvSpPr>
        <p:spPr bwMode="auto">
          <a:xfrm>
            <a:off x="646111" y="2482587"/>
            <a:ext cx="8858107" cy="18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a:buClrTx/>
              <a:buSzTx/>
            </a:pPr>
            <a:r>
              <a:rPr kumimoji="0" lang="en-US" altLang="en-US" sz="1900" b="0" i="0" u="none" strike="noStrike" cap="none" normalizeH="0" baseline="0" dirty="0">
                <a:ln>
                  <a:noFill/>
                </a:ln>
                <a:solidFill>
                  <a:schemeClr val="tx1"/>
                </a:solidFill>
                <a:effectLst/>
                <a:latin typeface="+mj-lt"/>
              </a:rPr>
              <a:t>Each row of the dataset states the best actor/ actress from 1929-2018. If there is a tie, that makes there an extra winner for that year.</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YAEw10H5958_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lvl="0" indent="0" defTabSz="914400">
              <a:buClrTx/>
              <a:buSzTx/>
              <a:buNone/>
            </a:pPr>
            <a:r>
              <a:rPr kumimoji="0" lang="en-US" altLang="en-US" sz="1900" b="0" i="0" u="none" strike="noStrike" cap="none" normalizeH="0" baseline="0" dirty="0">
                <a:ln>
                  <a:noFill/>
                </a:ln>
                <a:solidFill>
                  <a:schemeClr val="tx1"/>
                </a:solidFill>
                <a:effectLst/>
                <a:latin typeface="+mj-lt"/>
              </a:rPr>
              <a:t>Data sets. (n.</a:t>
            </a:r>
            <a:r>
              <a:rPr lang="en-US" altLang="en-US" sz="1900" dirty="0">
                <a:latin typeface="+mj-lt"/>
              </a:rPr>
              <a:t>d.). </a:t>
            </a:r>
            <a:r>
              <a:rPr lang="en-US" altLang="en-US" sz="1900" dirty="0">
                <a:latin typeface="+mj-lt"/>
                <a:hlinkClick r:id="rId2"/>
              </a:rPr>
              <a:t>https://</a:t>
            </a:r>
            <a:r>
              <a:rPr lang="en-US" altLang="en-US" sz="1900" dirty="0" err="1">
                <a:latin typeface="+mj-lt"/>
                <a:hlinkClick r:id="rId2"/>
              </a:rPr>
              <a:t>www.openintro.org</a:t>
            </a:r>
            <a:r>
              <a:rPr lang="en-US" altLang="en-US" sz="1900" dirty="0">
                <a:latin typeface="+mj-lt"/>
                <a:hlinkClick r:id="rId2"/>
              </a:rPr>
              <a:t>/data/</a:t>
            </a:r>
            <a:r>
              <a:rPr lang="en-US" altLang="en-US" sz="1900" dirty="0" err="1">
                <a:latin typeface="+mj-lt"/>
                <a:hlinkClick r:id="rId2"/>
              </a:rPr>
              <a:t>index.php?data</a:t>
            </a:r>
            <a:r>
              <a:rPr lang="en-US" altLang="en-US" sz="1900" dirty="0">
                <a:latin typeface="+mj-lt"/>
                <a:hlinkClick r:id="rId2"/>
              </a:rPr>
              <a:t>=</a:t>
            </a:r>
            <a:r>
              <a:rPr lang="en-US" altLang="en-US" sz="1900" dirty="0" err="1">
                <a:latin typeface="+mj-lt"/>
                <a:hlinkClick r:id="rId2"/>
              </a:rPr>
              <a:t>oscars</a:t>
            </a:r>
            <a:endParaRPr kumimoji="0" lang="en-US" altLang="en-US" sz="19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66128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697E4-E0CF-ADB8-6AED-019612C1DDF0}"/>
              </a:ext>
            </a:extLst>
          </p:cNvPr>
          <p:cNvSpPr>
            <a:spLocks noGrp="1"/>
          </p:cNvSpPr>
          <p:nvPr>
            <p:ph type="title"/>
          </p:nvPr>
        </p:nvSpPr>
        <p:spPr/>
        <p:txBody>
          <a:bodyPr/>
          <a:lstStyle/>
          <a:p>
            <a:r>
              <a:rPr lang="en-US" dirty="0"/>
              <a:t>Details</a:t>
            </a:r>
          </a:p>
        </p:txBody>
      </p:sp>
      <p:sp>
        <p:nvSpPr>
          <p:cNvPr id="3" name="Content Placeholder 2">
            <a:extLst>
              <a:ext uri="{FF2B5EF4-FFF2-40B4-BE49-F238E27FC236}">
                <a16:creationId xmlns:a16="http://schemas.microsoft.com/office/drawing/2014/main" id="{1F1404E9-FDB5-0A4F-3396-C9A27FCCD41F}"/>
              </a:ext>
            </a:extLst>
          </p:cNvPr>
          <p:cNvSpPr>
            <a:spLocks noGrp="1"/>
          </p:cNvSpPr>
          <p:nvPr>
            <p:ph idx="1"/>
          </p:nvPr>
        </p:nvSpPr>
        <p:spPr/>
        <p:txBody>
          <a:bodyPr/>
          <a:lstStyle/>
          <a:p>
            <a:r>
              <a:rPr lang="en-US" dirty="0"/>
              <a:t>This is a sample of the winners for Best Actor and Best Actress in the Oscar’s from 1929 to 2018. It is not a full population, as there will be further Oscar awards in the future, as well as there being other awards besides Best Actor/Actress that are not covered herein.</a:t>
            </a:r>
          </a:p>
          <a:p>
            <a:r>
              <a:rPr lang="en-US" dirty="0"/>
              <a:t>The full dataset contains 182 observations of 10 variables. Our report is concerned with 7 of these variables for each observation.</a:t>
            </a:r>
          </a:p>
          <a:p>
            <a:endParaRPr lang="en-US" dirty="0"/>
          </a:p>
        </p:txBody>
      </p:sp>
    </p:spTree>
    <p:extLst>
      <p:ext uri="{BB962C8B-B14F-4D97-AF65-F5344CB8AC3E}">
        <p14:creationId xmlns:p14="http://schemas.microsoft.com/office/powerpoint/2010/main" val="928803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199BE-613D-3E2B-C686-B58BFAB53E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7B3D40-0BBC-0DC7-8251-47E6D9BC3C51}"/>
              </a:ext>
            </a:extLst>
          </p:cNvPr>
          <p:cNvSpPr>
            <a:spLocks noGrp="1"/>
          </p:cNvSpPr>
          <p:nvPr>
            <p:ph type="title"/>
          </p:nvPr>
        </p:nvSpPr>
        <p:spPr/>
        <p:txBody>
          <a:bodyPr/>
          <a:lstStyle/>
          <a:p>
            <a:r>
              <a:rPr lang="en-US" dirty="0"/>
              <a:t>Variables</a:t>
            </a:r>
          </a:p>
        </p:txBody>
      </p:sp>
      <p:sp>
        <p:nvSpPr>
          <p:cNvPr id="3" name="Content Placeholder 2">
            <a:extLst>
              <a:ext uri="{FF2B5EF4-FFF2-40B4-BE49-F238E27FC236}">
                <a16:creationId xmlns:a16="http://schemas.microsoft.com/office/drawing/2014/main" id="{0AB6DA5C-5D57-E3B2-6DF7-3B5623B309BD}"/>
              </a:ext>
            </a:extLst>
          </p:cNvPr>
          <p:cNvSpPr>
            <a:spLocks noGrp="1"/>
          </p:cNvSpPr>
          <p:nvPr>
            <p:ph idx="1"/>
          </p:nvPr>
        </p:nvSpPr>
        <p:spPr/>
        <p:txBody>
          <a:bodyPr>
            <a:normAutofit fontScale="92500" lnSpcReduction="10000"/>
          </a:bodyPr>
          <a:lstStyle/>
          <a:p>
            <a:r>
              <a:rPr lang="en-US" dirty="0"/>
              <a:t>age - a numerical, continuous variable.</a:t>
            </a:r>
          </a:p>
          <a:p>
            <a:r>
              <a:rPr lang="en-US" dirty="0" err="1"/>
              <a:t>oscar_yr</a:t>
            </a:r>
            <a:r>
              <a:rPr lang="en-US" dirty="0"/>
              <a:t> - the year the Oscar was awarded. This is a numerical, discrete variable.</a:t>
            </a:r>
          </a:p>
          <a:p>
            <a:r>
              <a:rPr lang="en-US" dirty="0" err="1"/>
              <a:t>birth_y</a:t>
            </a:r>
            <a:r>
              <a:rPr lang="en-US" dirty="0"/>
              <a:t> - the year the award-winning actor/actress was born. This is a numerical, discrete variable.</a:t>
            </a:r>
          </a:p>
          <a:p>
            <a:r>
              <a:rPr lang="en-US" dirty="0"/>
              <a:t>award - either 'Best Actor' or 'Best Actress'. This is a categorical variable.</a:t>
            </a:r>
          </a:p>
          <a:p>
            <a:r>
              <a:rPr lang="en-US" dirty="0" err="1"/>
              <a:t>birth_pl</a:t>
            </a:r>
            <a:r>
              <a:rPr lang="en-US" dirty="0"/>
              <a:t> - the location the actor/actress was born. This is a categorical variable.</a:t>
            </a:r>
          </a:p>
          <a:p>
            <a:r>
              <a:rPr lang="en-US" dirty="0"/>
              <a:t>movie - the film the actor/actress won their Oscar for. This is a categorical variable.</a:t>
            </a:r>
          </a:p>
          <a:p>
            <a:r>
              <a:rPr lang="en-US" dirty="0"/>
              <a:t>name - the name of the award-winning actor/actress. This is a categorical variable.</a:t>
            </a:r>
          </a:p>
          <a:p>
            <a:endParaRPr lang="en-US" dirty="0"/>
          </a:p>
        </p:txBody>
      </p:sp>
    </p:spTree>
    <p:extLst>
      <p:ext uri="{BB962C8B-B14F-4D97-AF65-F5344CB8AC3E}">
        <p14:creationId xmlns:p14="http://schemas.microsoft.com/office/powerpoint/2010/main" val="3325752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FF8AF-A13F-1D92-7610-7B2661A0C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6988D2-7711-0003-0FDB-A243E08A20CC}"/>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ECAB5B35-D4F3-0893-07E5-91C721035F4B}"/>
              </a:ext>
            </a:extLst>
          </p:cNvPr>
          <p:cNvSpPr>
            <a:spLocks noGrp="1"/>
          </p:cNvSpPr>
          <p:nvPr>
            <p:ph idx="1"/>
          </p:nvPr>
        </p:nvSpPr>
        <p:spPr/>
        <p:txBody>
          <a:bodyPr/>
          <a:lstStyle/>
          <a:p>
            <a:endParaRPr lang="en-US" dirty="0"/>
          </a:p>
          <a:p>
            <a:endParaRPr lang="en-US" dirty="0"/>
          </a:p>
          <a:p>
            <a:r>
              <a:rPr lang="en-US" dirty="0"/>
              <a:t>Is there a difference in the average age between 'Best Actor' and 'Best Actress’? </a:t>
            </a:r>
          </a:p>
        </p:txBody>
      </p:sp>
    </p:spTree>
    <p:extLst>
      <p:ext uri="{BB962C8B-B14F-4D97-AF65-F5344CB8AC3E}">
        <p14:creationId xmlns:p14="http://schemas.microsoft.com/office/powerpoint/2010/main" val="1688972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DF28-19BE-127C-DB38-923003B9D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579E13-F65B-BD3F-11A0-7B229E488552}"/>
              </a:ext>
            </a:extLst>
          </p:cNvPr>
          <p:cNvSpPr>
            <a:spLocks noGrp="1"/>
          </p:cNvSpPr>
          <p:nvPr>
            <p:ph type="title"/>
          </p:nvPr>
        </p:nvSpPr>
        <p:spPr/>
        <p:txBody>
          <a:bodyPr/>
          <a:lstStyle/>
          <a:p>
            <a:r>
              <a:rPr lang="en-US" dirty="0"/>
              <a:t>Hypotheses</a:t>
            </a:r>
          </a:p>
        </p:txBody>
      </p:sp>
      <p:sp>
        <p:nvSpPr>
          <p:cNvPr id="3" name="Content Placeholder 2">
            <a:extLst>
              <a:ext uri="{FF2B5EF4-FFF2-40B4-BE49-F238E27FC236}">
                <a16:creationId xmlns:a16="http://schemas.microsoft.com/office/drawing/2014/main" id="{1DE0D897-A3A3-1B14-8E72-56271B02B286}"/>
              </a:ext>
            </a:extLst>
          </p:cNvPr>
          <p:cNvSpPr>
            <a:spLocks noGrp="1"/>
          </p:cNvSpPr>
          <p:nvPr>
            <p:ph idx="1"/>
          </p:nvPr>
        </p:nvSpPr>
        <p:spPr>
          <a:xfrm>
            <a:off x="1103312" y="1393353"/>
            <a:ext cx="8946541" cy="5337231"/>
          </a:xfrm>
        </p:spPr>
        <p:txBody>
          <a:bodyPr/>
          <a:lstStyle/>
          <a:p>
            <a:pPr fontAlgn="base"/>
            <a:r>
              <a:rPr lang="en-US" dirty="0" err="1">
                <a:latin typeface="Cascadia Code SemiLight" panose="020B0609020000020004" pitchFamily="49" charset="0"/>
                <a:ea typeface="Cascadia Code SemiLight" panose="020B0609020000020004" pitchFamily="49" charset="0"/>
                <a:cs typeface="Cascadia Code SemiLight" panose="020B0609020000020004" pitchFamily="49" charset="0"/>
              </a:rPr>
              <a:t>μ_actress</a:t>
            </a:r>
            <a:r>
              <a:rPr lang="en-US" dirty="0">
                <a:latin typeface="Cascadia Code SemiLight" panose="020B0609020000020004" pitchFamily="49" charset="0"/>
                <a:ea typeface="Cascadia Code SemiLight" panose="020B0609020000020004" pitchFamily="49" charset="0"/>
                <a:cs typeface="Cascadia Code SemiLight" panose="020B0609020000020004" pitchFamily="49" charset="0"/>
              </a:rPr>
              <a:t> </a:t>
            </a:r>
            <a:r>
              <a:rPr lang="en-US" dirty="0"/>
              <a:t>= mean age of 'Best Actress'</a:t>
            </a:r>
          </a:p>
          <a:p>
            <a:r>
              <a:rPr lang="en-US" dirty="0" err="1">
                <a:latin typeface="Cascadia Code SemiLight" panose="020B0609020000020004" pitchFamily="49" charset="0"/>
                <a:ea typeface="Cascadia Code SemiLight" panose="020B0609020000020004" pitchFamily="49" charset="0"/>
                <a:cs typeface="Cascadia Code SemiLight" panose="020B0609020000020004" pitchFamily="49" charset="0"/>
              </a:rPr>
              <a:t>μ_actor</a:t>
            </a:r>
            <a:r>
              <a:rPr lang="en-US" dirty="0">
                <a:latin typeface="Cascadia Code SemiLight" panose="020B0609020000020004" pitchFamily="49" charset="0"/>
                <a:ea typeface="Cascadia Code SemiLight" panose="020B0609020000020004" pitchFamily="49" charset="0"/>
                <a:cs typeface="Cascadia Code SemiLight" panose="020B0609020000020004" pitchFamily="49" charset="0"/>
              </a:rPr>
              <a:t>   </a:t>
            </a:r>
            <a:r>
              <a:rPr lang="en-US" dirty="0"/>
              <a:t>= mean age of 'Best Actor'</a:t>
            </a:r>
            <a:endParaRPr lang="en-CA" dirty="0"/>
          </a:p>
          <a:p>
            <a:endParaRPr lang="en-CA" dirty="0"/>
          </a:p>
          <a:p>
            <a:r>
              <a:rPr lang="en-CA" dirty="0"/>
              <a:t>Null hypothesis: There is no difference in average age between 'Best Actor' and 'Best Actress'.</a:t>
            </a:r>
          </a:p>
          <a:p>
            <a:pPr lvl="1"/>
            <a:r>
              <a:rPr lang="en-US" b="1" dirty="0">
                <a:ea typeface="Cascadia Code SemiLight" panose="020B0609020000020004" pitchFamily="49" charset="0"/>
                <a:cs typeface="Cascadia Code SemiLight" panose="020B0609020000020004" pitchFamily="49" charset="0"/>
              </a:rPr>
              <a:t>H</a:t>
            </a:r>
            <a:r>
              <a:rPr lang="en-US" dirty="0">
                <a:ea typeface="Cascadia Code SemiLight" panose="020B0609020000020004" pitchFamily="49" charset="0"/>
                <a:cs typeface="Cascadia Code SemiLight" panose="020B0609020000020004" pitchFamily="49" charset="0"/>
              </a:rPr>
              <a:t>₀</a:t>
            </a:r>
            <a:r>
              <a:rPr lang="en-US" dirty="0">
                <a:latin typeface="Cascadia Code SemiLight" panose="020B0609020000020004" pitchFamily="49" charset="0"/>
                <a:ea typeface="Cascadia Code SemiLight" panose="020B0609020000020004" pitchFamily="49" charset="0"/>
                <a:cs typeface="Cascadia Code SemiLight" panose="020B0609020000020004" pitchFamily="49" charset="0"/>
              </a:rPr>
              <a:t>: </a:t>
            </a:r>
            <a:r>
              <a:rPr lang="el-GR" dirty="0">
                <a:latin typeface="Cascadia Code SemiLight" panose="020B0609020000020004" pitchFamily="49" charset="0"/>
                <a:ea typeface="Cascadia Code SemiLight" panose="020B0609020000020004" pitchFamily="49" charset="0"/>
                <a:cs typeface="Cascadia Code SemiLight" panose="020B0609020000020004" pitchFamily="49" charset="0"/>
              </a:rPr>
              <a:t>μ_</a:t>
            </a:r>
            <a:r>
              <a:rPr lang="en-US" dirty="0">
                <a:latin typeface="Cascadia Code SemiLight" panose="020B0609020000020004" pitchFamily="49" charset="0"/>
                <a:ea typeface="Cascadia Code SemiLight" panose="020B0609020000020004" pitchFamily="49" charset="0"/>
                <a:cs typeface="Cascadia Code SemiLight" panose="020B0609020000020004" pitchFamily="49" charset="0"/>
              </a:rPr>
              <a:t>actress = </a:t>
            </a:r>
            <a:r>
              <a:rPr lang="el-GR" dirty="0">
                <a:latin typeface="Cascadia Code SemiLight" panose="020B0609020000020004" pitchFamily="49" charset="0"/>
                <a:ea typeface="Cascadia Code SemiLight" panose="020B0609020000020004" pitchFamily="49" charset="0"/>
                <a:cs typeface="Cascadia Code SemiLight" panose="020B0609020000020004" pitchFamily="49" charset="0"/>
              </a:rPr>
              <a:t>μ_</a:t>
            </a:r>
            <a:r>
              <a:rPr lang="en-US" dirty="0">
                <a:latin typeface="Cascadia Code SemiLight" panose="020B0609020000020004" pitchFamily="49" charset="0"/>
                <a:ea typeface="Cascadia Code SemiLight" panose="020B0609020000020004" pitchFamily="49" charset="0"/>
                <a:cs typeface="Cascadia Code SemiLight" panose="020B0609020000020004" pitchFamily="49" charset="0"/>
              </a:rPr>
              <a:t>actor</a:t>
            </a:r>
            <a:endParaRPr lang="en-CA" dirty="0">
              <a:latin typeface="Cascadia Code SemiLight" panose="020B0609020000020004" pitchFamily="49" charset="0"/>
              <a:ea typeface="Cascadia Code SemiLight" panose="020B0609020000020004" pitchFamily="49" charset="0"/>
              <a:cs typeface="Cascadia Code SemiLight" panose="020B0609020000020004" pitchFamily="49" charset="0"/>
            </a:endParaRPr>
          </a:p>
          <a:p>
            <a:endParaRPr lang="en-CA" dirty="0"/>
          </a:p>
          <a:p>
            <a:r>
              <a:rPr lang="en-CA" dirty="0"/>
              <a:t>Alternative hypothesis: There is a difference in average age between 'Best Actor' and 'Best Actress</a:t>
            </a:r>
            <a:r>
              <a:rPr lang="en-US" dirty="0"/>
              <a:t>'</a:t>
            </a:r>
            <a:r>
              <a:rPr lang="en-CA" dirty="0"/>
              <a:t>.</a:t>
            </a:r>
          </a:p>
          <a:p>
            <a:pPr lvl="1"/>
            <a:r>
              <a:rPr lang="en-US" b="1" dirty="0">
                <a:ea typeface="Cascadia Code SemiLight" panose="020B0609020000020004" pitchFamily="49" charset="0"/>
                <a:cs typeface="Cascadia Code SemiLight" panose="020B0609020000020004" pitchFamily="49" charset="0"/>
              </a:rPr>
              <a:t>H</a:t>
            </a:r>
            <a:r>
              <a:rPr lang="en-US" dirty="0">
                <a:ea typeface="Cascadia Code SemiLight" panose="020B0609020000020004" pitchFamily="49" charset="0"/>
                <a:cs typeface="Cascadia Code SemiLight" panose="020B0609020000020004" pitchFamily="49" charset="0"/>
              </a:rPr>
              <a:t>ₐ</a:t>
            </a:r>
            <a:r>
              <a:rPr lang="en-US" dirty="0">
                <a:latin typeface="Cascadia Code SemiLight" panose="020B0609020000020004" pitchFamily="49" charset="0"/>
                <a:ea typeface="Cascadia Code SemiLight" panose="020B0609020000020004" pitchFamily="49" charset="0"/>
                <a:cs typeface="Cascadia Code SemiLight" panose="020B0609020000020004" pitchFamily="49" charset="0"/>
              </a:rPr>
              <a:t>: </a:t>
            </a:r>
            <a:r>
              <a:rPr lang="el-GR" dirty="0">
                <a:latin typeface="Cascadia Code SemiLight" panose="020B0609020000020004" pitchFamily="49" charset="0"/>
                <a:ea typeface="Cascadia Code SemiLight" panose="020B0609020000020004" pitchFamily="49" charset="0"/>
                <a:cs typeface="Cascadia Code SemiLight" panose="020B0609020000020004" pitchFamily="49" charset="0"/>
              </a:rPr>
              <a:t>μ_</a:t>
            </a:r>
            <a:r>
              <a:rPr lang="en-US" dirty="0">
                <a:latin typeface="Cascadia Code SemiLight" panose="020B0609020000020004" pitchFamily="49" charset="0"/>
                <a:ea typeface="Cascadia Code SemiLight" panose="020B0609020000020004" pitchFamily="49" charset="0"/>
                <a:cs typeface="Cascadia Code SemiLight" panose="020B0609020000020004" pitchFamily="49" charset="0"/>
              </a:rPr>
              <a:t>actress ≠ </a:t>
            </a:r>
            <a:r>
              <a:rPr lang="el-GR" dirty="0">
                <a:latin typeface="Cascadia Code SemiLight" panose="020B0609020000020004" pitchFamily="49" charset="0"/>
                <a:ea typeface="Cascadia Code SemiLight" panose="020B0609020000020004" pitchFamily="49" charset="0"/>
                <a:cs typeface="Cascadia Code SemiLight" panose="020B0609020000020004" pitchFamily="49" charset="0"/>
              </a:rPr>
              <a:t>μ_</a:t>
            </a:r>
            <a:r>
              <a:rPr lang="en-US" dirty="0">
                <a:latin typeface="Cascadia Code SemiLight" panose="020B0609020000020004" pitchFamily="49" charset="0"/>
                <a:ea typeface="Cascadia Code SemiLight" panose="020B0609020000020004" pitchFamily="49" charset="0"/>
                <a:cs typeface="Cascadia Code SemiLight" panose="020B0609020000020004" pitchFamily="49" charset="0"/>
              </a:rPr>
              <a:t>actor</a:t>
            </a:r>
          </a:p>
        </p:txBody>
      </p:sp>
    </p:spTree>
    <p:extLst>
      <p:ext uri="{BB962C8B-B14F-4D97-AF65-F5344CB8AC3E}">
        <p14:creationId xmlns:p14="http://schemas.microsoft.com/office/powerpoint/2010/main" val="2942423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7F7DC-ED92-87A7-F5D3-7A8D78DC446C}"/>
              </a:ext>
            </a:extLst>
          </p:cNvPr>
          <p:cNvSpPr>
            <a:spLocks noGrp="1"/>
          </p:cNvSpPr>
          <p:nvPr>
            <p:ph type="title"/>
          </p:nvPr>
        </p:nvSpPr>
        <p:spPr/>
        <p:txBody>
          <a:bodyPr/>
          <a:lstStyle/>
          <a:p>
            <a:r>
              <a:rPr lang="en-US" dirty="0"/>
              <a:t>Statistical Errors</a:t>
            </a:r>
          </a:p>
        </p:txBody>
      </p:sp>
      <p:sp>
        <p:nvSpPr>
          <p:cNvPr id="3" name="Content Placeholder 2">
            <a:extLst>
              <a:ext uri="{FF2B5EF4-FFF2-40B4-BE49-F238E27FC236}">
                <a16:creationId xmlns:a16="http://schemas.microsoft.com/office/drawing/2014/main" id="{C2ED6C6D-413C-D966-B8F9-896CA0239C87}"/>
              </a:ext>
            </a:extLst>
          </p:cNvPr>
          <p:cNvSpPr>
            <a:spLocks noGrp="1"/>
          </p:cNvSpPr>
          <p:nvPr>
            <p:ph idx="1"/>
          </p:nvPr>
        </p:nvSpPr>
        <p:spPr/>
        <p:txBody>
          <a:bodyPr/>
          <a:lstStyle/>
          <a:p>
            <a:r>
              <a:rPr lang="en-US" dirty="0"/>
              <a:t>Type 1 error: Concluding that there is a difference in average age of Best Actress and Best Actor, when there is no difference.</a:t>
            </a:r>
          </a:p>
          <a:p>
            <a:pPr marL="0" indent="0">
              <a:buNone/>
            </a:pPr>
            <a:endParaRPr lang="en-US" dirty="0"/>
          </a:p>
          <a:p>
            <a:r>
              <a:rPr lang="en-US" dirty="0"/>
              <a:t>Type 2 error: Concluding that there is no difference in average age of Best Actress and Best Actor, when there is a difference.</a:t>
            </a:r>
          </a:p>
          <a:p>
            <a:endParaRPr lang="en-US" dirty="0"/>
          </a:p>
          <a:p>
            <a:r>
              <a:rPr lang="en-US" dirty="0"/>
              <a:t>A Type 1 error would be worse, because an incorrect conclusion that there are gender-based differences in the filmmaking industry could lead to ungrounded claims of gender bias in the industry, thereby leading to attempts to fix a problem that might not exist.</a:t>
            </a:r>
          </a:p>
          <a:p>
            <a:endParaRPr lang="en-US" dirty="0"/>
          </a:p>
        </p:txBody>
      </p:sp>
    </p:spTree>
    <p:extLst>
      <p:ext uri="{BB962C8B-B14F-4D97-AF65-F5344CB8AC3E}">
        <p14:creationId xmlns:p14="http://schemas.microsoft.com/office/powerpoint/2010/main" val="753577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00EF8EC7-78C9-2BB7-E216-D8AFED4FA656}"/>
            </a:ext>
          </a:extLst>
        </p:cNvPr>
        <p:cNvGrpSpPr/>
        <p:nvPr/>
      </p:nvGrpSpPr>
      <p:grpSpPr>
        <a:xfrm>
          <a:off x="0" y="0"/>
          <a:ext cx="0" cy="0"/>
          <a:chOff x="0" y="0"/>
          <a:chExt cx="0" cy="0"/>
        </a:xfrm>
      </p:grpSpPr>
      <p:pic>
        <p:nvPicPr>
          <p:cNvPr id="23" name="Picture 22">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5" name="Picture 24">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7" name="Oval 26">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9" name="Picture 28">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1" name="Picture 30">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3" name="Rectangle 32">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BA1584-DD4C-2D81-3CE6-C954F8DD879C}"/>
              </a:ext>
            </a:extLst>
          </p:cNvPr>
          <p:cNvSpPr>
            <a:spLocks noGrp="1"/>
          </p:cNvSpPr>
          <p:nvPr>
            <p:ph type="title"/>
          </p:nvPr>
        </p:nvSpPr>
        <p:spPr>
          <a:xfrm>
            <a:off x="943797" y="736868"/>
            <a:ext cx="10277304" cy="1214324"/>
          </a:xfrm>
        </p:spPr>
        <p:txBody>
          <a:bodyPr vert="horz" lIns="91440" tIns="45720" rIns="91440" bIns="45720" rtlCol="0" anchor="b">
            <a:normAutofit fontScale="90000"/>
          </a:bodyPr>
          <a:lstStyle/>
          <a:p>
            <a:pPr>
              <a:lnSpc>
                <a:spcPct val="90000"/>
              </a:lnSpc>
            </a:pPr>
            <a:r>
              <a:rPr lang="en-US" sz="6100" dirty="0"/>
              <a:t>Summary &amp; </a:t>
            </a:r>
            <a:br>
              <a:rPr lang="en-US" sz="6100" dirty="0"/>
            </a:br>
            <a:r>
              <a:rPr lang="en-US" sz="6100" dirty="0"/>
              <a:t>Visualization</a:t>
            </a:r>
          </a:p>
        </p:txBody>
      </p:sp>
      <p:sp>
        <p:nvSpPr>
          <p:cNvPr id="35" name="Freeform: Shape 34">
            <a:extLst>
              <a:ext uri="{FF2B5EF4-FFF2-40B4-BE49-F238E27FC236}">
                <a16:creationId xmlns:a16="http://schemas.microsoft.com/office/drawing/2014/main" id="{2CE00AD7-CB45-498E-8A82-6BCD4A3D7A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814825" y="480824"/>
            <a:ext cx="6858001" cy="5896353"/>
          </a:xfrm>
          <a:custGeom>
            <a:avLst/>
            <a:gdLst>
              <a:gd name="connsiteX0" fmla="*/ 6858001 w 6858001"/>
              <a:gd name="connsiteY0" fmla="*/ 1177 h 5896353"/>
              <a:gd name="connsiteX1" fmla="*/ 6858001 w 6858001"/>
              <a:gd name="connsiteY1" fmla="*/ 1344715 h 5896353"/>
              <a:gd name="connsiteX2" fmla="*/ 6858000 w 6858001"/>
              <a:gd name="connsiteY2" fmla="*/ 1344715 h 5896353"/>
              <a:gd name="connsiteX3" fmla="*/ 6858000 w 6858001"/>
              <a:gd name="connsiteY3" fmla="*/ 5896353 h 5896353"/>
              <a:gd name="connsiteX4" fmla="*/ 0 w 6858001"/>
              <a:gd name="connsiteY4" fmla="*/ 5896352 h 5896353"/>
              <a:gd name="connsiteX5" fmla="*/ 0 w 6858001"/>
              <a:gd name="connsiteY5" fmla="*/ 904460 h 5896353"/>
              <a:gd name="connsiteX6" fmla="*/ 1 w 6858001"/>
              <a:gd name="connsiteY6" fmla="*/ 904460 h 5896353"/>
              <a:gd name="connsiteX7" fmla="*/ 1 w 6858001"/>
              <a:gd name="connsiteY7" fmla="*/ 0 h 5896353"/>
              <a:gd name="connsiteX8" fmla="*/ 40463 w 6858001"/>
              <a:gd name="connsiteY8" fmla="*/ 5883 h 5896353"/>
              <a:gd name="connsiteX9" fmla="*/ 159107 w 6858001"/>
              <a:gd name="connsiteY9" fmla="*/ 23196 h 5896353"/>
              <a:gd name="connsiteX10" fmla="*/ 245518 w 6858001"/>
              <a:gd name="connsiteY10" fmla="*/ 35299 h 5896353"/>
              <a:gd name="connsiteX11" fmla="*/ 348388 w 6858001"/>
              <a:gd name="connsiteY11" fmla="*/ 48073 h 5896353"/>
              <a:gd name="connsiteX12" fmla="*/ 470460 w 6858001"/>
              <a:gd name="connsiteY12" fmla="*/ 63369 h 5896353"/>
              <a:gd name="connsiteX13" fmla="*/ 605563 w 6858001"/>
              <a:gd name="connsiteY13" fmla="*/ 79506 h 5896353"/>
              <a:gd name="connsiteX14" fmla="*/ 757810 w 6858001"/>
              <a:gd name="connsiteY14" fmla="*/ 96483 h 5896353"/>
              <a:gd name="connsiteX15" fmla="*/ 923774 w 6858001"/>
              <a:gd name="connsiteY15" fmla="*/ 114469 h 5896353"/>
              <a:gd name="connsiteX16" fmla="*/ 1104139 w 6858001"/>
              <a:gd name="connsiteY16" fmla="*/ 132454 h 5896353"/>
              <a:gd name="connsiteX17" fmla="*/ 1296163 w 6858001"/>
              <a:gd name="connsiteY17" fmla="*/ 150776 h 5896353"/>
              <a:gd name="connsiteX18" fmla="*/ 1503275 w 6858001"/>
              <a:gd name="connsiteY18" fmla="*/ 167753 h 5896353"/>
              <a:gd name="connsiteX19" fmla="*/ 1719988 w 6858001"/>
              <a:gd name="connsiteY19" fmla="*/ 184058 h 5896353"/>
              <a:gd name="connsiteX20" fmla="*/ 1949045 w 6858001"/>
              <a:gd name="connsiteY20" fmla="*/ 198849 h 5896353"/>
              <a:gd name="connsiteX21" fmla="*/ 2187703 w 6858001"/>
              <a:gd name="connsiteY21" fmla="*/ 212969 h 5896353"/>
              <a:gd name="connsiteX22" fmla="*/ 2436649 w 6858001"/>
              <a:gd name="connsiteY22" fmla="*/ 226248 h 5896353"/>
              <a:gd name="connsiteX23" fmla="*/ 2564208 w 6858001"/>
              <a:gd name="connsiteY23" fmla="*/ 230955 h 5896353"/>
              <a:gd name="connsiteX24" fmla="*/ 2694509 w 6858001"/>
              <a:gd name="connsiteY24" fmla="*/ 236165 h 5896353"/>
              <a:gd name="connsiteX25" fmla="*/ 2826868 w 6858001"/>
              <a:gd name="connsiteY25" fmla="*/ 241040 h 5896353"/>
              <a:gd name="connsiteX26" fmla="*/ 2959914 w 6858001"/>
              <a:gd name="connsiteY26" fmla="*/ 244234 h 5896353"/>
              <a:gd name="connsiteX27" fmla="*/ 3095702 w 6858001"/>
              <a:gd name="connsiteY27" fmla="*/ 247091 h 5896353"/>
              <a:gd name="connsiteX28" fmla="*/ 3232862 w 6858001"/>
              <a:gd name="connsiteY28" fmla="*/ 250117 h 5896353"/>
              <a:gd name="connsiteX29" fmla="*/ 3372765 w 6858001"/>
              <a:gd name="connsiteY29" fmla="*/ 252134 h 5896353"/>
              <a:gd name="connsiteX30" fmla="*/ 3514040 w 6858001"/>
              <a:gd name="connsiteY30" fmla="*/ 252134 h 5896353"/>
              <a:gd name="connsiteX31" fmla="*/ 3656686 w 6858001"/>
              <a:gd name="connsiteY31" fmla="*/ 253142 h 5896353"/>
              <a:gd name="connsiteX32" fmla="*/ 3800704 w 6858001"/>
              <a:gd name="connsiteY32" fmla="*/ 252134 h 5896353"/>
              <a:gd name="connsiteX33" fmla="*/ 3946780 w 6858001"/>
              <a:gd name="connsiteY33" fmla="*/ 250117 h 5896353"/>
              <a:gd name="connsiteX34" fmla="*/ 4092855 w 6858001"/>
              <a:gd name="connsiteY34" fmla="*/ 248268 h 5896353"/>
              <a:gd name="connsiteX35" fmla="*/ 4240988 w 6858001"/>
              <a:gd name="connsiteY35" fmla="*/ 244234 h 5896353"/>
              <a:gd name="connsiteX36" fmla="*/ 4390492 w 6858001"/>
              <a:gd name="connsiteY36" fmla="*/ 240032 h 5896353"/>
              <a:gd name="connsiteX37" fmla="*/ 4539997 w 6858001"/>
              <a:gd name="connsiteY37" fmla="*/ 235157 h 5896353"/>
              <a:gd name="connsiteX38" fmla="*/ 4690873 w 6858001"/>
              <a:gd name="connsiteY38" fmla="*/ 228266 h 5896353"/>
              <a:gd name="connsiteX39" fmla="*/ 4843120 w 6858001"/>
              <a:gd name="connsiteY39" fmla="*/ 220029 h 5896353"/>
              <a:gd name="connsiteX40" fmla="*/ 4996054 w 6858001"/>
              <a:gd name="connsiteY40" fmla="*/ 212129 h 5896353"/>
              <a:gd name="connsiteX41" fmla="*/ 5148987 w 6858001"/>
              <a:gd name="connsiteY41" fmla="*/ 202044 h 5896353"/>
              <a:gd name="connsiteX42" fmla="*/ 5303978 w 6858001"/>
              <a:gd name="connsiteY42" fmla="*/ 189941 h 5896353"/>
              <a:gd name="connsiteX43" fmla="*/ 5456911 w 6858001"/>
              <a:gd name="connsiteY43" fmla="*/ 177839 h 5896353"/>
              <a:gd name="connsiteX44" fmla="*/ 5612588 w 6858001"/>
              <a:gd name="connsiteY44" fmla="*/ 163887 h 5896353"/>
              <a:gd name="connsiteX45" fmla="*/ 5768950 w 6858001"/>
              <a:gd name="connsiteY45" fmla="*/ 148591 h 5896353"/>
              <a:gd name="connsiteX46" fmla="*/ 5923255 w 6858001"/>
              <a:gd name="connsiteY46" fmla="*/ 132455 h 5896353"/>
              <a:gd name="connsiteX47" fmla="*/ 6079618 w 6858001"/>
              <a:gd name="connsiteY47" fmla="*/ 113629 h 5896353"/>
              <a:gd name="connsiteX48" fmla="*/ 6235294 w 6858001"/>
              <a:gd name="connsiteY48" fmla="*/ 93458 h 5896353"/>
              <a:gd name="connsiteX49" fmla="*/ 6391657 w 6858001"/>
              <a:gd name="connsiteY49" fmla="*/ 73455 h 5896353"/>
              <a:gd name="connsiteX50" fmla="*/ 6547333 w 6858001"/>
              <a:gd name="connsiteY50" fmla="*/ 50091 h 5896353"/>
              <a:gd name="connsiteX51" fmla="*/ 6702324 w 6858001"/>
              <a:gd name="connsiteY51" fmla="*/ 26222 h 589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896353">
                <a:moveTo>
                  <a:pt x="6858001" y="1177"/>
                </a:moveTo>
                <a:lnTo>
                  <a:pt x="6858001" y="1344715"/>
                </a:lnTo>
                <a:lnTo>
                  <a:pt x="6858000" y="1344715"/>
                </a:lnTo>
                <a:lnTo>
                  <a:pt x="6858000" y="5896353"/>
                </a:lnTo>
                <a:lnTo>
                  <a:pt x="0" y="5896352"/>
                </a:lnTo>
                <a:lnTo>
                  <a:pt x="0" y="904460"/>
                </a:lnTo>
                <a:lnTo>
                  <a:pt x="1" y="904460"/>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en-US"/>
          </a:p>
        </p:txBody>
      </p:sp>
      <p:sp>
        <p:nvSpPr>
          <p:cNvPr id="37" name="Freeform 8">
            <a:extLst>
              <a:ext uri="{FF2B5EF4-FFF2-40B4-BE49-F238E27FC236}">
                <a16:creationId xmlns:a16="http://schemas.microsoft.com/office/drawing/2014/main" id="{4F8E9684-0CFC-49C9-A74B-9BDBACB2E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2449"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39" name="Rectangle 38">
            <a:extLst>
              <a:ext uri="{FF2B5EF4-FFF2-40B4-BE49-F238E27FC236}">
                <a16:creationId xmlns:a16="http://schemas.microsoft.com/office/drawing/2014/main" id="{E48B001B-EC85-48B9-A863-A918A8169F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7" name="Picture 6">
            <a:extLst>
              <a:ext uri="{FF2B5EF4-FFF2-40B4-BE49-F238E27FC236}">
                <a16:creationId xmlns:a16="http://schemas.microsoft.com/office/drawing/2014/main" id="{343F665B-E04B-4C7C-F711-72C65E6F728F}"/>
              </a:ext>
            </a:extLst>
          </p:cNvPr>
          <p:cNvPicPr>
            <a:picLocks noChangeAspect="1"/>
          </p:cNvPicPr>
          <p:nvPr/>
        </p:nvPicPr>
        <p:blipFill>
          <a:blip r:embed="rId7"/>
          <a:stretch>
            <a:fillRect/>
          </a:stretch>
        </p:blipFill>
        <p:spPr>
          <a:xfrm>
            <a:off x="437554" y="2208080"/>
            <a:ext cx="5268942" cy="3148274"/>
          </a:xfrm>
          <a:prstGeom prst="rect">
            <a:avLst/>
          </a:prstGeom>
          <a:effectLst/>
        </p:spPr>
      </p:pic>
      <p:pic>
        <p:nvPicPr>
          <p:cNvPr id="5" name="Content Placeholder 4">
            <a:extLst>
              <a:ext uri="{FF2B5EF4-FFF2-40B4-BE49-F238E27FC236}">
                <a16:creationId xmlns:a16="http://schemas.microsoft.com/office/drawing/2014/main" id="{73CE09A5-2CF0-E2D4-855F-01F0DC1AE2DA}"/>
              </a:ext>
            </a:extLst>
          </p:cNvPr>
          <p:cNvPicPr>
            <a:picLocks noChangeAspect="1"/>
          </p:cNvPicPr>
          <p:nvPr/>
        </p:nvPicPr>
        <p:blipFill>
          <a:blip r:embed="rId8"/>
          <a:stretch>
            <a:fillRect/>
          </a:stretch>
        </p:blipFill>
        <p:spPr>
          <a:xfrm>
            <a:off x="6109883" y="1689756"/>
            <a:ext cx="5357159" cy="3200985"/>
          </a:xfrm>
          <a:prstGeom prst="rect">
            <a:avLst/>
          </a:prstGeom>
          <a:effectLst/>
        </p:spPr>
      </p:pic>
      <p:sp>
        <p:nvSpPr>
          <p:cNvPr id="3" name="TextBox 2">
            <a:extLst>
              <a:ext uri="{FF2B5EF4-FFF2-40B4-BE49-F238E27FC236}">
                <a16:creationId xmlns:a16="http://schemas.microsoft.com/office/drawing/2014/main" id="{C805B39E-5150-C1B4-BDF1-2DF9A4DB84EE}"/>
              </a:ext>
            </a:extLst>
          </p:cNvPr>
          <p:cNvSpPr txBox="1"/>
          <p:nvPr/>
        </p:nvSpPr>
        <p:spPr>
          <a:xfrm>
            <a:off x="1744875" y="5479429"/>
            <a:ext cx="2654300" cy="276999"/>
          </a:xfrm>
          <a:prstGeom prst="rect">
            <a:avLst/>
          </a:prstGeom>
          <a:noFill/>
        </p:spPr>
        <p:txBody>
          <a:bodyPr wrap="square" rtlCol="0">
            <a:spAutoFit/>
          </a:bodyPr>
          <a:lstStyle/>
          <a:p>
            <a:pPr algn="ctr"/>
            <a:r>
              <a:rPr lang="en-US" sz="1200" dirty="0"/>
              <a:t>Boxplot</a:t>
            </a:r>
          </a:p>
        </p:txBody>
      </p:sp>
      <p:sp>
        <p:nvSpPr>
          <p:cNvPr id="4" name="TextBox 3">
            <a:extLst>
              <a:ext uri="{FF2B5EF4-FFF2-40B4-BE49-F238E27FC236}">
                <a16:creationId xmlns:a16="http://schemas.microsoft.com/office/drawing/2014/main" id="{13B4DD31-9C7D-D6F7-F44B-A482F9D625D3}"/>
              </a:ext>
            </a:extLst>
          </p:cNvPr>
          <p:cNvSpPr txBox="1"/>
          <p:nvPr/>
        </p:nvSpPr>
        <p:spPr>
          <a:xfrm>
            <a:off x="7473955" y="5017764"/>
            <a:ext cx="2654300" cy="461665"/>
          </a:xfrm>
          <a:prstGeom prst="rect">
            <a:avLst/>
          </a:prstGeom>
          <a:noFill/>
        </p:spPr>
        <p:txBody>
          <a:bodyPr wrap="square" rtlCol="0">
            <a:spAutoFit/>
          </a:bodyPr>
          <a:lstStyle/>
          <a:p>
            <a:pPr algn="ctr"/>
            <a:r>
              <a:rPr lang="en-US" sz="1200" dirty="0">
                <a:solidFill>
                  <a:schemeClr val="bg2"/>
                </a:solidFill>
              </a:rPr>
              <a:t>Bar chart</a:t>
            </a:r>
          </a:p>
          <a:p>
            <a:pPr algn="ctr"/>
            <a:r>
              <a:rPr lang="en-US" sz="1200" dirty="0">
                <a:solidFill>
                  <a:schemeClr val="bg2"/>
                </a:solidFill>
              </a:rPr>
              <a:t>(alternative representation)</a:t>
            </a:r>
          </a:p>
        </p:txBody>
      </p:sp>
    </p:spTree>
    <p:extLst>
      <p:ext uri="{BB962C8B-B14F-4D97-AF65-F5344CB8AC3E}">
        <p14:creationId xmlns:p14="http://schemas.microsoft.com/office/powerpoint/2010/main" val="198840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3EA3C-E822-B2FC-60F5-23F16905E1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D2B056-39CA-CDD8-2418-0197A7F9B34D}"/>
              </a:ext>
            </a:extLst>
          </p:cNvPr>
          <p:cNvSpPr>
            <a:spLocks noGrp="1"/>
          </p:cNvSpPr>
          <p:nvPr>
            <p:ph type="title"/>
          </p:nvPr>
        </p:nvSpPr>
        <p:spPr/>
        <p:txBody>
          <a:bodyPr/>
          <a:lstStyle/>
          <a:p>
            <a:r>
              <a:rPr lang="en-US"/>
              <a:t>Analysis</a:t>
            </a:r>
            <a:endParaRPr lang="en-US" dirty="0"/>
          </a:p>
        </p:txBody>
      </p:sp>
      <p:sp>
        <p:nvSpPr>
          <p:cNvPr id="3" name="Content Placeholder 2">
            <a:extLst>
              <a:ext uri="{FF2B5EF4-FFF2-40B4-BE49-F238E27FC236}">
                <a16:creationId xmlns:a16="http://schemas.microsoft.com/office/drawing/2014/main" id="{C1A03EAD-27D8-75D1-5221-20D163F4400D}"/>
              </a:ext>
            </a:extLst>
          </p:cNvPr>
          <p:cNvSpPr>
            <a:spLocks noGrp="1"/>
          </p:cNvSpPr>
          <p:nvPr>
            <p:ph idx="1"/>
          </p:nvPr>
        </p:nvSpPr>
        <p:spPr>
          <a:xfrm>
            <a:off x="1002336" y="3789787"/>
            <a:ext cx="9810221" cy="2429932"/>
          </a:xfrm>
        </p:spPr>
        <p:txBody>
          <a:bodyPr>
            <a:normAutofit/>
          </a:bodyPr>
          <a:lstStyle/>
          <a:p>
            <a:endParaRPr lang="en-US" dirty="0"/>
          </a:p>
          <a:p>
            <a:r>
              <a:rPr lang="en-US" dirty="0"/>
              <a:t>Best Actor winners had a mean age of about 44.0 years (SD ≈ 8.9), while Best Actress winners had a mean age of about 36.2 years (SD ≈ 11.4). The gap between the two groups is roughly 8 years. Notably, the Best Actress group shows higher variability (larger SD), which means ages were more spread out, ranging from very young winners in their early 20s to women winning in their 60s and beyond.</a:t>
            </a:r>
          </a:p>
        </p:txBody>
      </p:sp>
      <p:pic>
        <p:nvPicPr>
          <p:cNvPr id="5" name="Picture 4">
            <a:extLst>
              <a:ext uri="{FF2B5EF4-FFF2-40B4-BE49-F238E27FC236}">
                <a16:creationId xmlns:a16="http://schemas.microsoft.com/office/drawing/2014/main" id="{045BBAFF-B85C-5AB3-648F-59070EDB22F6}"/>
              </a:ext>
            </a:extLst>
          </p:cNvPr>
          <p:cNvPicPr>
            <a:picLocks noChangeAspect="1"/>
          </p:cNvPicPr>
          <p:nvPr/>
        </p:nvPicPr>
        <p:blipFill>
          <a:blip r:embed="rId2"/>
          <a:stretch>
            <a:fillRect/>
          </a:stretch>
        </p:blipFill>
        <p:spPr>
          <a:xfrm>
            <a:off x="901361" y="1602684"/>
            <a:ext cx="10012172" cy="2314898"/>
          </a:xfrm>
          <a:prstGeom prst="rect">
            <a:avLst/>
          </a:prstGeom>
        </p:spPr>
      </p:pic>
    </p:spTree>
    <p:extLst>
      <p:ext uri="{BB962C8B-B14F-4D97-AF65-F5344CB8AC3E}">
        <p14:creationId xmlns:p14="http://schemas.microsoft.com/office/powerpoint/2010/main" val="1263774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A8CA9-4D30-1469-0CD6-BF9827EF92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751D89-74F0-801F-6EA6-35FAD48E38F1}"/>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3DFB23F9-F635-B625-0F46-C95C41857C87}"/>
              </a:ext>
            </a:extLst>
          </p:cNvPr>
          <p:cNvSpPr>
            <a:spLocks noGrp="1"/>
          </p:cNvSpPr>
          <p:nvPr>
            <p:ph idx="1"/>
          </p:nvPr>
        </p:nvSpPr>
        <p:spPr>
          <a:xfrm>
            <a:off x="1104293" y="1423331"/>
            <a:ext cx="8946541" cy="5142361"/>
          </a:xfrm>
        </p:spPr>
        <p:txBody>
          <a:bodyPr>
            <a:normAutofit/>
          </a:bodyPr>
          <a:lstStyle/>
          <a:p>
            <a:endParaRPr lang="en-US" dirty="0"/>
          </a:p>
          <a:p>
            <a:r>
              <a:rPr lang="en-US" dirty="0"/>
              <a:t>In conclusion, we reject the null hypothesis. There is a statistically significant difference in the average age of Best Actor vs. Best Actress winners. Male winners tend to be awarded about 8 years older than female winners on average. The boxplot further reveals that the Best Actress distribution is more right-skewed with notable outliers (older winners), which suggests that while the average skews younger, some women do win at older ages. </a:t>
            </a:r>
          </a:p>
          <a:p>
            <a:r>
              <a:rPr lang="en-US" dirty="0"/>
              <a:t>Knowing that the null hypothesis is rejected, it remains to be seen whether this difference in average age correlates to the award’s time period. More specifically, does the difference in average age change </a:t>
            </a:r>
          </a:p>
          <a:p>
            <a:r>
              <a:rPr lang="en-US" dirty="0"/>
              <a:t>The impact of the result lies in its implications on gender bias. The fact that female winners are younger on average could suggest that youth is more valued in actresses than experience or skill.</a:t>
            </a:r>
          </a:p>
        </p:txBody>
      </p:sp>
    </p:spTree>
    <p:extLst>
      <p:ext uri="{BB962C8B-B14F-4D97-AF65-F5344CB8AC3E}">
        <p14:creationId xmlns:p14="http://schemas.microsoft.com/office/powerpoint/2010/main" val="1532467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41C98-53B7-BC18-0744-62BB199377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C77D91-FD15-1814-D5F7-C7E72DE0043F}"/>
              </a:ext>
            </a:extLst>
          </p:cNvPr>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80E41917-134C-E7AD-9F5A-4B675FAD53E6}"/>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04128085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593</TotalTime>
  <Words>720</Words>
  <Application>Microsoft Office PowerPoint</Application>
  <PresentationFormat>Widescreen</PresentationFormat>
  <Paragraphs>51</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Cascadia Code SemiLight</vt:lpstr>
      <vt:lpstr>Century Gothic</vt:lpstr>
      <vt:lpstr>Wingdings 3</vt:lpstr>
      <vt:lpstr>YAEw10H5958_0</vt:lpstr>
      <vt:lpstr>Ion</vt:lpstr>
      <vt:lpstr>Oscar Winners</vt:lpstr>
      <vt:lpstr>Introduction</vt:lpstr>
      <vt:lpstr>Details</vt:lpstr>
      <vt:lpstr>Variables</vt:lpstr>
      <vt:lpstr>Question</vt:lpstr>
      <vt:lpstr>Hypotheses</vt:lpstr>
      <vt:lpstr>Statistical Errors</vt:lpstr>
      <vt:lpstr>Summary &amp;  Visualization</vt:lpstr>
      <vt:lpstr>Analysis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ososeehize@outlook.com</dc:creator>
  <cp:lastModifiedBy>Overman, Michael</cp:lastModifiedBy>
  <cp:revision>15</cp:revision>
  <dcterms:created xsi:type="dcterms:W3CDTF">2026-05-07T02:57:00Z</dcterms:created>
  <dcterms:modified xsi:type="dcterms:W3CDTF">2026-05-07T15:55:49Z</dcterms:modified>
</cp:coreProperties>
</file>